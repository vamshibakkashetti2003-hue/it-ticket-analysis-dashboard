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68EE"/>
    <a:srgbClr val="D19E06"/>
    <a:srgbClr val="499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8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96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3997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4099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5086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2100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7709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4024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25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69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C7616CA0-919D-4A49-9C8A-62FDFB3A5183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2656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0317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224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63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01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103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IT Support Ticket Management System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ECEF"/>
                </a:solidFill>
              </a:rPr>
              <a:t>Performance Evaluation &amp; Strategic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6" name="Text 4"/>
          <p:cNvSpPr/>
          <p:nvPr/>
        </p:nvSpPr>
        <p:spPr>
          <a:xfrm>
            <a:off x="3555991" y="3415323"/>
            <a:ext cx="2047631" cy="10652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Introduction and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Hook Statement: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748"/>
                </a:solidFill>
              </a:rPr>
              <a:t>With ticket volumes doubling from 13,051 in 2016 to 29,088 in 2020, our IT support system faces unprecedented demand. Are we equipped to handle this growth?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Project Context: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This analysis examines the IT support ticket management system across 97,498 tickets handled by 50 agents over five years  (2016-2020), evaluating agent performance, resolution efficiency, and employee satisfaction.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Primary Objectives: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Identify high and low-performing IT agents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Assess overall team effectiveness and efficiency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Analyze ticket resolution processes and bottlenecks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Determine areas for improvement in service delivery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Provide data-driven recommendations for staffing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Guide investment priorities for system upgrades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Data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91440" cy="23774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Dataset Summary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Total Records: </a:t>
            </a:r>
            <a:r>
              <a:rPr lang="en-US" sz="1200" dirty="0">
                <a:solidFill>
                  <a:srgbClr val="2D3748"/>
                </a:solidFill>
              </a:rPr>
              <a:t>97,498 tickets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Analysis Period: </a:t>
            </a:r>
            <a:r>
              <a:rPr lang="en-US" sz="1200" dirty="0">
                <a:solidFill>
                  <a:srgbClr val="2D3748"/>
                </a:solidFill>
              </a:rPr>
              <a:t>January 2016 - December 2020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Number of Agents: </a:t>
            </a:r>
            <a:r>
              <a:rPr lang="en-US" sz="1200" dirty="0">
                <a:solidFill>
                  <a:srgbClr val="2D3748"/>
                </a:solidFill>
              </a:rPr>
              <a:t>50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Attributes Analyzed: </a:t>
            </a:r>
            <a:r>
              <a:rPr lang="en-US" sz="1200" dirty="0">
                <a:solidFill>
                  <a:srgbClr val="2D3748"/>
                </a:solidFill>
              </a:rPr>
              <a:t>15 (after enrichment)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91440" cy="237744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Key Performance Indicators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Avg Daily Volume: </a:t>
            </a:r>
            <a:r>
              <a:rPr lang="en-US" sz="1200" dirty="0">
                <a:solidFill>
                  <a:srgbClr val="2D3748"/>
                </a:solidFill>
              </a:rPr>
              <a:t>106.44 tickets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Avg Resolution Time: </a:t>
            </a:r>
            <a:r>
              <a:rPr lang="en-US" sz="1200" dirty="0">
                <a:solidFill>
                  <a:srgbClr val="2D3748"/>
                </a:solidFill>
              </a:rPr>
              <a:t>4.55 days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Avg Satisfaction: </a:t>
            </a:r>
            <a:r>
              <a:rPr lang="en-US" sz="1200" dirty="0">
                <a:solidFill>
                  <a:srgbClr val="2D3748"/>
                </a:solidFill>
              </a:rPr>
              <a:t>4.10/5.0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</a:rPr>
              <a:t>Average Agent Age: </a:t>
            </a:r>
            <a:r>
              <a:rPr lang="en-US" sz="1200" dirty="0">
                <a:solidFill>
                  <a:srgbClr val="2D3748"/>
                </a:solidFill>
              </a:rPr>
              <a:t>40.48 years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Data Quality Initiatives: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No missing or duplicate values found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Corrected 97,498 inconsistencies in Severity and Priority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Fixed misspellings: 'Unassigned' (29,410), 'Major' (4,836), 'Unclassified' (356)</a:t>
            </a:r>
            <a:endParaRPr lang="en-US" sz="1100" dirty="0"/>
          </a:p>
        </p:txBody>
      </p:sp>
      <p:pic>
        <p:nvPicPr>
          <p:cNvPr id="16" name="Graphic 15" descr="Bar graph with upward trend with solid fill">
            <a:extLst>
              <a:ext uri="{FF2B5EF4-FFF2-40B4-BE49-F238E27FC236}">
                <a16:creationId xmlns:a16="http://schemas.microsoft.com/office/drawing/2014/main" id="{A63893A4-A791-A2BE-A850-169FF1BD1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1700" y="1246957"/>
            <a:ext cx="914400" cy="914400"/>
          </a:xfrm>
          <a:prstGeom prst="rect">
            <a:avLst/>
          </a:prstGeom>
        </p:spPr>
      </p:pic>
      <p:pic>
        <p:nvPicPr>
          <p:cNvPr id="18" name="Graphic 17" descr="CheckList with solid fill">
            <a:extLst>
              <a:ext uri="{FF2B5EF4-FFF2-40B4-BE49-F238E27FC236}">
                <a16:creationId xmlns:a16="http://schemas.microsoft.com/office/drawing/2014/main" id="{94036AEC-C2E9-B472-851D-D765FA699A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3611" y="1209397"/>
            <a:ext cx="1075509" cy="869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25603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73152" cy="1645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ISBLANK &amp; Filters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Remove Duplicates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Split Text to Columns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Find &amp; Replace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5603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143000"/>
            <a:ext cx="73152" cy="1645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Analysis Methods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6002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Pivot Table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Statistical Functions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XLOOKUP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Correlation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5603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143000"/>
            <a:ext cx="73152" cy="1645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6002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Pivot Tables &amp;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Timeline Slicers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Conditional Formatting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Analytical Approach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itchFamily="2" charset="2"/>
              <a:buChar char="v"/>
            </a:pPr>
            <a:r>
              <a:rPr lang="en-US" sz="1100" dirty="0">
                <a:solidFill>
                  <a:srgbClr val="2D3748"/>
                </a:solidFill>
              </a:rPr>
              <a:t>Our methodology combined rigorous data cleaning with multi-dimensional analysis to ensure accuracy and reliability.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100" dirty="0">
                <a:solidFill>
                  <a:srgbClr val="2D3748"/>
                </a:solidFill>
              </a:rPr>
              <a:t> Used advanced Excel functions including AVERAGE, CORREL, COUNTIF, and XLOOKUP to derive actionable insights from the dataset.</a:t>
            </a:r>
          </a:p>
          <a:p>
            <a:pPr marL="171450" indent="-171450">
              <a:buFont typeface="Wingdings" pitchFamily="2" charset="2"/>
              <a:buChar char="v"/>
            </a:pPr>
            <a:r>
              <a:rPr lang="en-US" sz="1100" dirty="0">
                <a:solidFill>
                  <a:srgbClr val="2D3748"/>
                </a:solidFill>
              </a:rPr>
              <a:t>Pivot tables enabled dynamic exploration of trends across time, agent performance, and ticket categories, while conditional formatting highlighted critical thresholds for decision-making &amp; future impact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Ticket Distribution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6_46_PM.png"/>
          <p:cNvPicPr>
            <a:picLocks noChangeAspect="1"/>
          </p:cNvPicPr>
          <p:nvPr/>
        </p:nvPicPr>
        <p:blipFill rotWithShape="1">
          <a:blip r:embed="rId3"/>
          <a:srcRect l="10428" t="-887" r="444" b="-1"/>
          <a:stretch>
            <a:fillRect/>
          </a:stretch>
        </p:blipFill>
        <p:spPr>
          <a:xfrm>
            <a:off x="315686" y="1201782"/>
            <a:ext cx="5296664" cy="3141618"/>
          </a:xfrm>
          <a:prstGeom prst="rect">
            <a:avLst/>
          </a:prstGeom>
          <a:ln w="57150">
            <a:noFill/>
          </a:ln>
        </p:spPr>
      </p:pic>
      <p:sp>
        <p:nvSpPr>
          <p:cNvPr id="6" name="Shape 3"/>
          <p:cNvSpPr/>
          <p:nvPr/>
        </p:nvSpPr>
        <p:spPr>
          <a:xfrm>
            <a:off x="5791279" y="1234440"/>
            <a:ext cx="289552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706432" y="1234440"/>
            <a:ext cx="63464" cy="1554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773114" y="1371600"/>
            <a:ext cx="27765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Request Category Distribution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73114" y="1691640"/>
            <a:ext cx="277652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</a:rPr>
              <a:t>System Issues: </a:t>
            </a:r>
            <a:r>
              <a:rPr lang="en-US" sz="1200" dirty="0">
                <a:solidFill>
                  <a:srgbClr val="2D3748"/>
                </a:solidFill>
              </a:rPr>
              <a:t>40.00% (39,002 tickets)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</a:rPr>
              <a:t>Login Access: </a:t>
            </a:r>
            <a:r>
              <a:rPr lang="en-US" sz="1200" dirty="0">
                <a:solidFill>
                  <a:srgbClr val="2D3748"/>
                </a:solidFill>
              </a:rPr>
              <a:t>29.94% (29,193 tickets)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19E06"/>
                </a:solidFill>
              </a:rPr>
              <a:t>Software Issues: </a:t>
            </a:r>
            <a:r>
              <a:rPr lang="en-US" sz="1200" dirty="0">
                <a:solidFill>
                  <a:srgbClr val="2D3748"/>
                </a:solidFill>
              </a:rPr>
              <a:t>20.07% (19,570 tickets)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Hardware Issues: </a:t>
            </a:r>
            <a:r>
              <a:rPr lang="en-US" sz="1200" dirty="0">
                <a:solidFill>
                  <a:srgbClr val="2D3748"/>
                </a:solidFill>
              </a:rPr>
              <a:t>9.98% (9,733 tickets)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04114" y="2971800"/>
            <a:ext cx="2971800" cy="1371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773114" y="3154680"/>
            <a:ext cx="277652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Key Observation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773114" y="3429000"/>
            <a:ext cx="27765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System &amp; Login Access categories account for nearly 70% of all tickets, indicating these are the primary support areas requiring attention and resources to improve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Ticket Volume Trends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7_14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873752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234440"/>
            <a:ext cx="3200400" cy="1737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0" y="1234440"/>
            <a:ext cx="73152" cy="17373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Year-over-Year Analysis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169164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2016: </a:t>
            </a:r>
            <a:r>
              <a:rPr lang="en-US" sz="1100" dirty="0">
                <a:solidFill>
                  <a:srgbClr val="2D3748"/>
                </a:solidFill>
              </a:rPr>
              <a:t>13,051 tickets (Baseline)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2017: </a:t>
            </a:r>
            <a:r>
              <a:rPr lang="en-US" sz="1100" dirty="0">
                <a:solidFill>
                  <a:srgbClr val="2D3748"/>
                </a:solidFill>
              </a:rPr>
              <a:t>14,915 (+14.3%)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2018: </a:t>
            </a:r>
            <a:r>
              <a:rPr lang="en-US" sz="1100" dirty="0">
                <a:solidFill>
                  <a:srgbClr val="2D3748"/>
                </a:solidFill>
              </a:rPr>
              <a:t>18,954 (+27.1%)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2019: </a:t>
            </a:r>
            <a:r>
              <a:rPr lang="en-US" sz="1100" dirty="0">
                <a:solidFill>
                  <a:srgbClr val="2D3748"/>
                </a:solidFill>
              </a:rPr>
              <a:t>21,490 (+13.4%)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2020: </a:t>
            </a:r>
            <a:r>
              <a:rPr lang="en-US" sz="1100" dirty="0">
                <a:solidFill>
                  <a:srgbClr val="2D3748"/>
                </a:solidFill>
              </a:rPr>
              <a:t>29,088 (+35.4%)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3154680"/>
            <a:ext cx="3200400" cy="118872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3337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Critical Insight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Ticket Volume more than Doubled (123% increase) over 5 years, particularly sharp growth in 2020, signaling grown IT infrastructure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Resolution Time by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7_43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75488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234440"/>
            <a:ext cx="320040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0" y="1234440"/>
            <a:ext cx="73152" cy="16459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Performance by Category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5000" y="16916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</a:rPr>
              <a:t>Hardware: </a:t>
            </a:r>
            <a:r>
              <a:rPr lang="en-US" sz="1100" dirty="0">
                <a:solidFill>
                  <a:srgbClr val="2D3748"/>
                </a:solidFill>
              </a:rPr>
              <a:t>7.63 days (67% above avg)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</a:rPr>
              <a:t>System: </a:t>
            </a:r>
            <a:r>
              <a:rPr lang="en-US" sz="1100" dirty="0">
                <a:solidFill>
                  <a:srgbClr val="2D3748"/>
                </a:solidFill>
              </a:rPr>
              <a:t>6.62 days (45% above avg)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19E06"/>
                </a:solidFill>
              </a:rPr>
              <a:t>Software: </a:t>
            </a:r>
            <a:r>
              <a:rPr lang="en-US" sz="1100" dirty="0">
                <a:solidFill>
                  <a:srgbClr val="2D3748"/>
                </a:solidFill>
              </a:rPr>
              <a:t>5.24 days (15% above avg)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8A745"/>
                </a:solidFill>
              </a:rPr>
              <a:t>Login Access: </a:t>
            </a:r>
            <a:r>
              <a:rPr lang="en-US" sz="1100" dirty="0">
                <a:solidFill>
                  <a:srgbClr val="2D3748"/>
                </a:solidFill>
              </a:rPr>
              <a:t>0.31 days (93% below avg)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3063240"/>
            <a:ext cx="3200400" cy="128016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3246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Overall Average: 4.55 days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3520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Hardware, System, and Software categories all exceed average resolution time, indicating potential resource constraints or complexity issues. Login Access resolved exceptionally quickly.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Team Performance Trends Over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8_03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47548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Five-Year Performance Evolution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1600200"/>
            <a:ext cx="3257876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0" y="1600200"/>
            <a:ext cx="73152" cy="1188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737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Resolution Time Trend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Remained remarkably consistent at ~4.5 days despite ticket volume doubling from 13,051 to 29,088.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971800"/>
            <a:ext cx="3257876" cy="1188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0" y="2971800"/>
            <a:ext cx="73152" cy="1188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3108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090"/>
                </a:solidFill>
              </a:rPr>
              <a:t>Satisfaction Rate Trend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33832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Steady improvement from 3.98 (2016) to 4.16 (2020), showing +4.6% increase in customer satisfaction.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89120"/>
            <a:ext cx="8287076" cy="5486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6" name="Text 13"/>
          <p:cNvSpPr/>
          <p:nvPr/>
        </p:nvSpPr>
        <p:spPr>
          <a:xfrm>
            <a:off x="2139462" y="4434840"/>
            <a:ext cx="48650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5090"/>
                </a:solidFill>
              </a:rPr>
              <a:t>Key Insight: Despite dramatic volume increase, the team maintained consistent resolution times &amp; improved satisfaction, demonstrating resilience and adaptability.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Software Effectiveness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4" y="1197430"/>
            <a:ext cx="719763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Approximately 33% of all tickets incorrectly classified as HIGH PRIORITY despite having Normal Severity levels.</a:t>
            </a:r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9319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20116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Impact of Misclassification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Misallocation of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Delayed attention to truly urgent issues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Agent confusion and inefficiency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Reduced system effectiveness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9319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011680"/>
            <a:ext cx="73152" cy="201168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194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Trend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566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Before New Tools: </a:t>
            </a:r>
            <a:r>
              <a:rPr lang="en-US" sz="1100" dirty="0">
                <a:solidFill>
                  <a:srgbClr val="2D3748"/>
                </a:solidFill>
              </a:rPr>
              <a:t>Normal severity tickets appropriately assigned Low to Medium priority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After New Tools: </a:t>
            </a:r>
            <a:r>
              <a:rPr lang="en-US" sz="1100" dirty="0">
                <a:solidFill>
                  <a:srgbClr val="2D3748"/>
                </a:solidFill>
              </a:rPr>
              <a:t>Drastic increase in High Priority assignments for Normal severity issues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89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STRATEGIC IMPLICATION: Urgent need for software upgrade or reconfiguration to restore accurate ticket classification.</a:t>
            </a:r>
            <a:endParaRPr lang="en-US" sz="1200" dirty="0"/>
          </a:p>
        </p:txBody>
      </p:sp>
      <p:pic>
        <p:nvPicPr>
          <p:cNvPr id="19" name="Graphic 18" descr="Warning with solid fill">
            <a:extLst>
              <a:ext uri="{FF2B5EF4-FFF2-40B4-BE49-F238E27FC236}">
                <a16:creationId xmlns:a16="http://schemas.microsoft.com/office/drawing/2014/main" id="{3F7B19AA-AF26-D6F5-0BE5-7293FF9BE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863" y="1228996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Technology Investment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8_30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081202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34743" y="1234440"/>
            <a:ext cx="2852056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5742743" y="1234440"/>
            <a:ext cx="67180" cy="15544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5"/>
          <p:cNvSpPr/>
          <p:nvPr/>
        </p:nvSpPr>
        <p:spPr>
          <a:xfrm>
            <a:off x="5946398" y="1371600"/>
            <a:ext cx="26032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Ticket Growth by Category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6398" y="1691640"/>
            <a:ext cx="260324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Hardware: </a:t>
            </a:r>
            <a:r>
              <a:rPr lang="en-US" sz="1100" dirty="0">
                <a:solidFill>
                  <a:srgbClr val="2D3748"/>
                </a:solidFill>
              </a:rPr>
              <a:t>+131% (1,272 → 2,933)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Login Access: </a:t>
            </a:r>
            <a:r>
              <a:rPr lang="en-US" sz="1100" dirty="0">
                <a:solidFill>
                  <a:srgbClr val="2D3748"/>
                </a:solidFill>
              </a:rPr>
              <a:t>+121% (3,910 → 8,659)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Software: </a:t>
            </a:r>
            <a:r>
              <a:rPr lang="en-US" sz="1100" dirty="0">
                <a:solidFill>
                  <a:srgbClr val="2D3748"/>
                </a:solidFill>
              </a:rPr>
              <a:t>+124% (2,617 → 5,865)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System: </a:t>
            </a:r>
            <a:r>
              <a:rPr lang="en-US" sz="1100" dirty="0">
                <a:solidFill>
                  <a:srgbClr val="2D3748"/>
                </a:solidFill>
              </a:rPr>
              <a:t>+121% (5,252 → 11,631)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47656" y="2971800"/>
            <a:ext cx="2939143" cy="137160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Text 8"/>
          <p:cNvSpPr/>
          <p:nvPr/>
        </p:nvSpPr>
        <p:spPr>
          <a:xfrm>
            <a:off x="5946398" y="3078478"/>
            <a:ext cx="260324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Investment Recommendation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6398" y="3374570"/>
            <a:ext cx="260324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Yes - Significant technology investment is essential. The dramatic increase across ALL categories suggests underlying infrastructure issues. Investment addresses root causes, providing long-term savings through prevention rather than reactive support.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Peak and Stable Periods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pic>
        <p:nvPicPr>
          <p:cNvPr id="5" name="Image 0" descr="/mnt/user-data/uploads/Screenshot_2026-02-04_at_7_48_58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114800" cy="2651760"/>
          </a:xfrm>
          <a:prstGeom prst="rect">
            <a:avLst/>
          </a:prstGeom>
        </p:spPr>
      </p:pic>
      <p:pic>
        <p:nvPicPr>
          <p:cNvPr id="6" name="Image 1" descr="/mnt/user-data/uploads/Screenshot_2026-02-04_at_7_49_27_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43000"/>
            <a:ext cx="4114800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931920"/>
            <a:ext cx="4114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3931920"/>
            <a:ext cx="73152" cy="8686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Ticket Volume Patterns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Peak Period: 2020 (29,088 tickets). Stable Period: 2016-2017.           No seasonal stability - volume consistently increased.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0" y="3931920"/>
            <a:ext cx="41148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0" y="3931920"/>
            <a:ext cx="73152" cy="8686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9"/>
          <p:cNvSpPr/>
          <p:nvPr/>
        </p:nvSpPr>
        <p:spPr>
          <a:xfrm>
            <a:off x="480060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Satisfaction Trends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0060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Peak Satisfaction: 2020 (4.16). Steady improvement year-over-year. Excellent performance under pressure.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090"/>
                </a:solidFill>
              </a:rPr>
              <a:t>Dashboard Analysis  |  Satisfaction &amp; Resolution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2034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49808"/>
            <a:ext cx="4069080" cy="20349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3098984"/>
            <a:ext cx="8503920" cy="1444752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9"/>
          <p:cNvSpPr/>
          <p:nvPr/>
        </p:nvSpPr>
        <p:spPr>
          <a:xfrm>
            <a:off x="320040" y="3098984"/>
            <a:ext cx="64008" cy="14447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3153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</a:rPr>
              <a:t>Key Insights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5781F3-31F2-8716-146F-ECEA49B198FB}"/>
              </a:ext>
            </a:extLst>
          </p:cNvPr>
          <p:cNvGrpSpPr/>
          <p:nvPr/>
        </p:nvGrpSpPr>
        <p:grpSpPr>
          <a:xfrm>
            <a:off x="497103" y="3491345"/>
            <a:ext cx="1005840" cy="256032"/>
            <a:chOff x="438912" y="3483032"/>
            <a:chExt cx="1005840" cy="256032"/>
          </a:xfrm>
        </p:grpSpPr>
        <p:sp>
          <p:nvSpPr>
            <p:cNvPr id="15" name="Shape 11"/>
            <p:cNvSpPr/>
            <p:nvPr/>
          </p:nvSpPr>
          <p:spPr>
            <a:xfrm>
              <a:off x="438912" y="3483032"/>
              <a:ext cx="1005840" cy="256032"/>
            </a:xfrm>
            <a:prstGeom prst="rect">
              <a:avLst/>
            </a:prstGeom>
            <a:solidFill>
              <a:srgbClr val="28A745"/>
            </a:solidFill>
            <a:ln/>
          </p:spPr>
        </p:sp>
        <p:sp>
          <p:nvSpPr>
            <p:cNvPr id="16" name="Text 12"/>
            <p:cNvSpPr/>
            <p:nvPr/>
          </p:nvSpPr>
          <p:spPr>
            <a:xfrm>
              <a:off x="438912" y="348303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QUALITY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1517904" y="3447287"/>
            <a:ext cx="7178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Over 80% of tickets scored satisfaction 4 or 5 — confirming overall team quality is strong despite high volumes.</a:t>
            </a:r>
            <a:endParaRPr lang="en-US" sz="11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E6EFCD-0734-5160-7BA6-A0DCC3E841AD}"/>
              </a:ext>
            </a:extLst>
          </p:cNvPr>
          <p:cNvGrpSpPr/>
          <p:nvPr/>
        </p:nvGrpSpPr>
        <p:grpSpPr>
          <a:xfrm>
            <a:off x="505415" y="3966832"/>
            <a:ext cx="1005840" cy="256032"/>
            <a:chOff x="438912" y="3775640"/>
            <a:chExt cx="1005840" cy="256032"/>
          </a:xfrm>
        </p:grpSpPr>
        <p:sp>
          <p:nvSpPr>
            <p:cNvPr id="18" name="Shape 14"/>
            <p:cNvSpPr/>
            <p:nvPr/>
          </p:nvSpPr>
          <p:spPr>
            <a:xfrm>
              <a:off x="438912" y="3775640"/>
              <a:ext cx="1005840" cy="256032"/>
            </a:xfrm>
            <a:prstGeom prst="rect">
              <a:avLst/>
            </a:prstGeom>
            <a:solidFill>
              <a:srgbClr val="4A90E2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438912" y="3775640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RESOLUTION</a:t>
              </a:r>
              <a:endParaRPr lang="en-US" sz="900" dirty="0"/>
            </a:p>
          </p:txBody>
        </p:sp>
      </p:grpSp>
      <p:sp>
        <p:nvSpPr>
          <p:cNvPr id="20" name="Text 16"/>
          <p:cNvSpPr/>
          <p:nvPr/>
        </p:nvSpPr>
        <p:spPr>
          <a:xfrm>
            <a:off x="1526217" y="3931087"/>
            <a:ext cx="7178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Resolution time ranges 0–14 days for 97% of tickets, with majority resolved within 6 days, indicating a healthy distribution.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4507160"/>
            <a:ext cx="8503920" cy="3657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2" name="Text 18"/>
          <p:cNvSpPr/>
          <p:nvPr/>
        </p:nvSpPr>
        <p:spPr>
          <a:xfrm>
            <a:off x="1504597" y="4553711"/>
            <a:ext cx="652549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Maintain current team quality practices; introduce satisfaction tracking per agent to sustain the high 4–5 score rate.</a:t>
            </a:r>
            <a:endParaRPr lang="en-US" sz="10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0BBC740-D831-BC2D-3360-24F72B55F663}"/>
              </a:ext>
            </a:extLst>
          </p:cNvPr>
          <p:cNvGrpSpPr/>
          <p:nvPr/>
        </p:nvGrpSpPr>
        <p:grpSpPr>
          <a:xfrm>
            <a:off x="499869" y="4551497"/>
            <a:ext cx="1060692" cy="256032"/>
            <a:chOff x="438912" y="3925270"/>
            <a:chExt cx="892098" cy="256032"/>
          </a:xfrm>
          <a:solidFill>
            <a:srgbClr val="2E5091"/>
          </a:solidFill>
        </p:grpSpPr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308D8736-F00C-BA0E-7293-27F679568276}"/>
                </a:ext>
              </a:extLst>
            </p:cNvPr>
            <p:cNvSpPr/>
            <p:nvPr/>
          </p:nvSpPr>
          <p:spPr>
            <a:xfrm>
              <a:off x="438912" y="3925270"/>
              <a:ext cx="892097" cy="256032"/>
            </a:xfrm>
            <a:prstGeom prst="rect">
              <a:avLst/>
            </a:prstGeom>
            <a:grpFill/>
            <a:ln/>
          </p:spPr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64ACAEA9-F9CB-4F9B-B1F6-69558C9D5289}"/>
                </a:ext>
              </a:extLst>
            </p:cNvPr>
            <p:cNvSpPr/>
            <p:nvPr/>
          </p:nvSpPr>
          <p:spPr>
            <a:xfrm>
              <a:off x="438913" y="3925270"/>
              <a:ext cx="892097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RECOMMENDATION</a:t>
              </a:r>
              <a:endParaRPr lang="en-US" sz="9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F8209EA-D8FB-3253-C16E-468C787FA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70" y="747594"/>
            <a:ext cx="2544546" cy="19839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7398490-475C-38B0-6591-2F84722C3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964" y="780151"/>
            <a:ext cx="2515653" cy="19389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090"/>
                </a:solidFill>
              </a:rPr>
              <a:t>Dashboard Analysis  |  Severity &amp; Category Trends Over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198507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49808"/>
            <a:ext cx="4069080" cy="198507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3049108"/>
            <a:ext cx="8503920" cy="1444752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9"/>
          <p:cNvSpPr/>
          <p:nvPr/>
        </p:nvSpPr>
        <p:spPr>
          <a:xfrm>
            <a:off x="320040" y="3049108"/>
            <a:ext cx="64008" cy="14447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4" name="Text 10"/>
          <p:cNvSpPr/>
          <p:nvPr/>
        </p:nvSpPr>
        <p:spPr>
          <a:xfrm>
            <a:off x="3757352" y="3103972"/>
            <a:ext cx="144890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</a:rPr>
              <a:t>Key Insights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672704-13F4-1B8B-4E4C-81CDEEDE3A4A}"/>
              </a:ext>
            </a:extLst>
          </p:cNvPr>
          <p:cNvGrpSpPr/>
          <p:nvPr/>
        </p:nvGrpSpPr>
        <p:grpSpPr>
          <a:xfrm>
            <a:off x="1915668" y="3217854"/>
            <a:ext cx="1005840" cy="256032"/>
            <a:chOff x="438912" y="3433156"/>
            <a:chExt cx="1005840" cy="256032"/>
          </a:xfrm>
          <a:solidFill>
            <a:srgbClr val="FF0000"/>
          </a:solidFill>
        </p:grpSpPr>
        <p:sp>
          <p:nvSpPr>
            <p:cNvPr id="15" name="Shape 11"/>
            <p:cNvSpPr/>
            <p:nvPr/>
          </p:nvSpPr>
          <p:spPr>
            <a:xfrm>
              <a:off x="438912" y="3433156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16" name="Text 12"/>
            <p:cNvSpPr/>
            <p:nvPr/>
          </p:nvSpPr>
          <p:spPr>
            <a:xfrm>
              <a:off x="438912" y="3433156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SEVERITY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708244" y="3744052"/>
            <a:ext cx="37357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A202C"/>
                </a:solidFill>
              </a:rPr>
              <a:t>Normal severity tickets dominate every year doubling in 2020 ( 26493 ), 2017 ( 11794 ) signals systemic scale-up pressure. </a:t>
            </a:r>
            <a:endParaRPr lang="en-US" sz="11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029DD74-4E60-C8C7-1201-63A1698C42EB}"/>
              </a:ext>
            </a:extLst>
          </p:cNvPr>
          <p:cNvGrpSpPr/>
          <p:nvPr/>
        </p:nvGrpSpPr>
        <p:grpSpPr>
          <a:xfrm>
            <a:off x="6131052" y="3219517"/>
            <a:ext cx="1005840" cy="256032"/>
            <a:chOff x="438912" y="3725764"/>
            <a:chExt cx="1005840" cy="256032"/>
          </a:xfrm>
          <a:solidFill>
            <a:srgbClr val="FFC000"/>
          </a:solidFill>
        </p:grpSpPr>
        <p:sp>
          <p:nvSpPr>
            <p:cNvPr id="18" name="Shape 14"/>
            <p:cNvSpPr/>
            <p:nvPr/>
          </p:nvSpPr>
          <p:spPr>
            <a:xfrm>
              <a:off x="438912" y="3725764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19" name="Text 15"/>
            <p:cNvSpPr/>
            <p:nvPr/>
          </p:nvSpPr>
          <p:spPr>
            <a:xfrm>
              <a:off x="438912" y="3725764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CATEGORY</a:t>
              </a:r>
              <a:endParaRPr lang="en-US" sz="900" dirty="0"/>
            </a:p>
          </p:txBody>
        </p:sp>
      </p:grpSp>
      <p:sp>
        <p:nvSpPr>
          <p:cNvPr id="20" name="Text 16"/>
          <p:cNvSpPr/>
          <p:nvPr/>
        </p:nvSpPr>
        <p:spPr>
          <a:xfrm>
            <a:off x="4572000" y="3739897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System category is most resource-intensive, with largest share of ticket volume &amp; growing 121% from 2016 to 2020 (5,252 → 11,631).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4457284"/>
            <a:ext cx="8503920" cy="3657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2" name="Text 18"/>
          <p:cNvSpPr/>
          <p:nvPr/>
        </p:nvSpPr>
        <p:spPr>
          <a:xfrm>
            <a:off x="1504604" y="4512148"/>
            <a:ext cx="7273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Allocate additional System-category specialists &amp; introduce a fast-track queue for urgent tickets to prevent escalation delays.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A2744F-4CA1-4C48-9CE1-14DCF8867740}"/>
              </a:ext>
            </a:extLst>
          </p:cNvPr>
          <p:cNvGrpSpPr/>
          <p:nvPr/>
        </p:nvGrpSpPr>
        <p:grpSpPr>
          <a:xfrm>
            <a:off x="384048" y="4511317"/>
            <a:ext cx="1279055" cy="256032"/>
            <a:chOff x="438912" y="3925270"/>
            <a:chExt cx="1005840" cy="256032"/>
          </a:xfrm>
          <a:solidFill>
            <a:srgbClr val="2E5091"/>
          </a:solidFill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F7B85F07-F08D-FEEC-FC67-B822D819AF3F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FDB54616-2FC8-43FC-974D-F107B98C3344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RECOMMENDATION</a:t>
              </a:r>
              <a:endParaRPr lang="en-US" sz="900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08E302DF-6E85-A3D4-5BB9-C0373754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274" y="749808"/>
            <a:ext cx="3711580" cy="203495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968617E-840F-483B-47A6-106AE2CD6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92" y="783482"/>
            <a:ext cx="4004767" cy="1913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090"/>
                </a:solidFill>
              </a:rPr>
              <a:t>Dashboard Analysis  |  Resolution Time &amp; Age Group Satisfaction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69080" cy="220952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49808"/>
            <a:ext cx="4069080" cy="220952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8"/>
          <p:cNvSpPr/>
          <p:nvPr/>
        </p:nvSpPr>
        <p:spPr>
          <a:xfrm>
            <a:off x="320040" y="3248614"/>
            <a:ext cx="8503920" cy="1444752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3" name="Shape 9"/>
          <p:cNvSpPr/>
          <p:nvPr/>
        </p:nvSpPr>
        <p:spPr>
          <a:xfrm>
            <a:off x="320040" y="3248614"/>
            <a:ext cx="64008" cy="14447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0"/>
          <p:cNvSpPr/>
          <p:nvPr/>
        </p:nvSpPr>
        <p:spPr>
          <a:xfrm>
            <a:off x="3582787" y="330347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090"/>
                </a:solidFill>
              </a:rPr>
              <a:t>Key Insights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BFD109-C4BD-5D1A-365D-80400293DB5C}"/>
              </a:ext>
            </a:extLst>
          </p:cNvPr>
          <p:cNvGrpSpPr/>
          <p:nvPr/>
        </p:nvGrpSpPr>
        <p:grpSpPr>
          <a:xfrm>
            <a:off x="513729" y="3616036"/>
            <a:ext cx="1005840" cy="256032"/>
            <a:chOff x="438912" y="3632662"/>
            <a:chExt cx="1005840" cy="256032"/>
          </a:xfrm>
        </p:grpSpPr>
        <p:sp>
          <p:nvSpPr>
            <p:cNvPr id="15" name="Shape 11"/>
            <p:cNvSpPr/>
            <p:nvPr/>
          </p:nvSpPr>
          <p:spPr>
            <a:xfrm>
              <a:off x="438912" y="3632662"/>
              <a:ext cx="1005840" cy="256032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16" name="Text 12"/>
            <p:cNvSpPr/>
            <p:nvPr/>
          </p:nvSpPr>
          <p:spPr>
            <a:xfrm>
              <a:off x="438912" y="3632662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HARDWARE</a:t>
              </a:r>
              <a:endParaRPr lang="en-US" sz="9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1709096" y="3596917"/>
            <a:ext cx="54065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Hardware consistently records the highest resolution time (7.63 days avg) </a:t>
            </a:r>
            <a:br>
              <a:rPr lang="en-US" sz="1100" dirty="0">
                <a:solidFill>
                  <a:srgbClr val="1A202C"/>
                </a:solidFill>
              </a:rPr>
            </a:br>
            <a:r>
              <a:rPr lang="en-US" sz="1100" dirty="0">
                <a:solidFill>
                  <a:srgbClr val="1A202C"/>
                </a:solidFill>
              </a:rPr>
              <a:t>— 67% above the 4.55-day overall average across every quarter in both 2016 and 2020.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A813F2-B91E-93B9-5402-FE58835CB2A8}"/>
              </a:ext>
            </a:extLst>
          </p:cNvPr>
          <p:cNvGrpSpPr/>
          <p:nvPr/>
        </p:nvGrpSpPr>
        <p:grpSpPr>
          <a:xfrm>
            <a:off x="522041" y="4066587"/>
            <a:ext cx="1005840" cy="256032"/>
            <a:chOff x="438912" y="3925270"/>
            <a:chExt cx="1005840" cy="256032"/>
          </a:xfrm>
        </p:grpSpPr>
        <p:sp>
          <p:nvSpPr>
            <p:cNvPr id="18" name="Shape 14"/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solidFill>
              <a:srgbClr val="28A745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EXPERIENCE</a:t>
              </a:r>
              <a:endParaRPr lang="en-US" sz="900" dirty="0"/>
            </a:p>
          </p:txBody>
        </p:sp>
      </p:grpSp>
      <p:sp>
        <p:nvSpPr>
          <p:cNvPr id="20" name="Text 16"/>
          <p:cNvSpPr/>
          <p:nvPr/>
        </p:nvSpPr>
        <p:spPr>
          <a:xfrm>
            <a:off x="1709101" y="4030842"/>
            <a:ext cx="527359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Agents aged 25–55 improved satisfaction rates over the years despite </a:t>
            </a:r>
            <a:br>
              <a:rPr lang="en-US" sz="1100" dirty="0">
                <a:solidFill>
                  <a:srgbClr val="1A202C"/>
                </a:solidFill>
              </a:rPr>
            </a:br>
            <a:r>
              <a:rPr lang="en-US" sz="1100" dirty="0">
                <a:solidFill>
                  <a:srgbClr val="1A202C"/>
                </a:solidFill>
              </a:rPr>
              <a:t>handling higher volumes, confirming experience directly drives better service quality.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4547062"/>
            <a:ext cx="8503920" cy="475488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2" name="Text 18"/>
          <p:cNvSpPr/>
          <p:nvPr/>
        </p:nvSpPr>
        <p:spPr>
          <a:xfrm>
            <a:off x="1720732" y="46534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FFFFFF"/>
                </a:solidFill>
              </a:rPr>
              <a:t>• Dedicate a Specialized Hardware team with faster escalation protocols  </a:t>
            </a:r>
            <a:br>
              <a:rPr lang="en-US" sz="1050" dirty="0">
                <a:solidFill>
                  <a:srgbClr val="FFFFFF"/>
                </a:solidFill>
              </a:rPr>
            </a:br>
            <a:r>
              <a:rPr lang="en-US" sz="1050" dirty="0">
                <a:solidFill>
                  <a:srgbClr val="FFFFFF"/>
                </a:solidFill>
              </a:rPr>
              <a:t>• Pair Junior Agents (25–34) with Senior Agents (35–55) in a structured mentorship program</a:t>
            </a:r>
            <a:endParaRPr lang="en-US" sz="10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CF4B1C-9E2D-7841-389C-7DFF68F5A8ED}"/>
              </a:ext>
            </a:extLst>
          </p:cNvPr>
          <p:cNvGrpSpPr/>
          <p:nvPr/>
        </p:nvGrpSpPr>
        <p:grpSpPr>
          <a:xfrm>
            <a:off x="408427" y="4651250"/>
            <a:ext cx="1279055" cy="256032"/>
            <a:chOff x="438912" y="3925270"/>
            <a:chExt cx="1005840" cy="256032"/>
          </a:xfrm>
          <a:solidFill>
            <a:srgbClr val="2E5091"/>
          </a:solidFill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795436EF-C551-B06D-D4BB-1D637117066E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B2CB21EC-82FB-F85D-8D08-2DDFFB25FB01}"/>
                </a:ext>
              </a:extLst>
            </p:cNvPr>
            <p:cNvSpPr/>
            <p:nvPr/>
          </p:nvSpPr>
          <p:spPr>
            <a:xfrm>
              <a:off x="438912" y="3925270"/>
              <a:ext cx="10058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RECOMMENDATION</a:t>
              </a:r>
              <a:endParaRPr lang="en-US" sz="9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FD9FBF2-399A-5358-0462-F9F062199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05" y="864524"/>
            <a:ext cx="4037076" cy="19717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31415D-314E-C5CD-0653-EEDEE7973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446" y="897775"/>
            <a:ext cx="3994266" cy="18412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Strategic Recommendation: Investment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</a:rPr>
              <a:t>Three-Pillar Evaluation: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1. Agent Workload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12 overloaded agents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12 underloaded agents</a:t>
            </a:r>
            <a:endParaRPr lang="en-US" sz="1100" dirty="0"/>
          </a:p>
          <a:p>
            <a:pPr>
              <a:buSzPct val="100000"/>
            </a:pPr>
            <a:r>
              <a:rPr lang="en-US" sz="1100" b="1" dirty="0">
                <a:solidFill>
                  <a:srgbClr val="2D3748"/>
                </a:solidFill>
              </a:rPr>
              <a:t>Action: Hire additional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417320"/>
            <a:ext cx="73152" cy="13716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2. Training Needs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13 agents has high resolution times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1 agent with low satisfaction rate</a:t>
            </a:r>
            <a:endParaRPr lang="en-US" sz="1100" dirty="0"/>
          </a:p>
          <a:p>
            <a:pPr>
              <a:buSzPct val="100000"/>
            </a:pPr>
            <a:r>
              <a:rPr lang="en-US" sz="1100" b="1" dirty="0">
                <a:solidFill>
                  <a:srgbClr val="2D3748"/>
                </a:solidFill>
              </a:rPr>
              <a:t>Action: Enforce Targeted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417320"/>
            <a:ext cx="73152" cy="13716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</a:rPr>
              <a:t>3. Software (CRITICAL)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33% misclassification rate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3748"/>
                </a:solidFill>
              </a:rPr>
              <a:t>Performance decline</a:t>
            </a:r>
            <a:endParaRPr lang="en-US" sz="1100" dirty="0"/>
          </a:p>
          <a:p>
            <a:pPr>
              <a:buSzPct val="100000"/>
            </a:pPr>
            <a:r>
              <a:rPr lang="en-US" sz="1100" b="1" dirty="0">
                <a:solidFill>
                  <a:srgbClr val="2D3748"/>
                </a:solidFill>
              </a:rPr>
              <a:t>Action: Upgrade Software Fast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13716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PRIMARY INVESTMENT DECISION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ECEF"/>
                </a:solidFill>
              </a:rPr>
              <a:t>Prioritize Ticket Management Software Upgrade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225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The 33% misclassification rate represents a critical system failure that undermines all other improvements. This should be addressed before scaling the team.</a:t>
            </a:r>
            <a:endParaRPr lang="en-US" sz="1100" dirty="0"/>
          </a:p>
        </p:txBody>
      </p:sp>
      <p:pic>
        <p:nvPicPr>
          <p:cNvPr id="23" name="Graphic 22" descr="Tick with solid fill">
            <a:extLst>
              <a:ext uri="{FF2B5EF4-FFF2-40B4-BE49-F238E27FC236}">
                <a16:creationId xmlns:a16="http://schemas.microsoft.com/office/drawing/2014/main" id="{473A5B16-0228-71DD-51B9-2A79F747A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2743" y="3246120"/>
            <a:ext cx="977537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090"/>
                </a:solidFill>
              </a:rPr>
              <a:t>Strategic Recommendation: Agent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High-Performers: 36 out of 50 agents meet or exceed performance standards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31920" cy="12344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73152" cy="12344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Training Required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13 Agents has resolution times &gt;5.2 days                                1 Agent Satisfaction Rating &lt;3.5                                                      </a:t>
            </a:r>
            <a:r>
              <a:rPr lang="en-US" sz="1100" b="1" dirty="0">
                <a:solidFill>
                  <a:srgbClr val="2D3748"/>
                </a:solidFill>
              </a:rPr>
              <a:t>Action: Training in Troubleshooting, Customer Service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12344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737360"/>
            <a:ext cx="73152" cy="123444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090"/>
                </a:solidFill>
              </a:rPr>
              <a:t>Performance Improvement Plan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Agent 19: Lowest satisfaction rate (3.04/5.0).               </a:t>
            </a:r>
            <a:r>
              <a:rPr lang="en-US" sz="1100" b="1" dirty="0">
                <a:solidFill>
                  <a:srgbClr val="2D3748"/>
                </a:solidFill>
              </a:rPr>
              <a:t>Action: Place under notice with 90-day improvement plan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</a:rPr>
              <a:t>Agents Recommended for Termination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Agent 13: </a:t>
            </a:r>
            <a:r>
              <a:rPr lang="en-US" sz="1100" dirty="0"/>
              <a:t>Low ticket volume (&lt;25th percentile) + High resolution time (&gt;75th percentile)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Agent 49: </a:t>
            </a:r>
            <a:r>
              <a:rPr lang="en-US" sz="1100" dirty="0"/>
              <a:t>Low ticket volume (&lt;25th percentile) + High resolution time (&gt;75th percentile)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Rationale: </a:t>
            </a:r>
            <a:r>
              <a:rPr lang="en-US" sz="1100" dirty="0"/>
              <a:t>Consistently underperforming on both productivity and efficiency metrics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509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554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090"/>
                </a:solidFill>
              </a:rPr>
              <a:t>Performance Strengths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Consistent resolution despite 123% vol increase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Satisfaction improved by 4.6% over five years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72% of Agents meet or Exceed Standards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Efficient Login Access handling (0.31 Day Avg)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</a:rPr>
              <a:t>Critical Challenges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Software misclassifies 33% of tickets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Hardware / System tickets 45-67% slower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Significant workload imbalance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</a:rPr>
              <a:t>2 agents below acceptable standards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5090"/>
                </a:solidFill>
              </a:rPr>
              <a:t>Strategic Actions Required: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3545"/>
                </a:solidFill>
              </a:rPr>
              <a:t>IMMEDIATE: </a:t>
            </a:r>
            <a:r>
              <a:rPr lang="en-US" sz="1100" dirty="0">
                <a:solidFill>
                  <a:srgbClr val="2D3748"/>
                </a:solidFill>
              </a:rPr>
              <a:t>Upgrade ticket management software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SHORT-TERM: </a:t>
            </a:r>
            <a:r>
              <a:rPr lang="en-US" sz="1100" dirty="0">
                <a:solidFill>
                  <a:srgbClr val="2D3748"/>
                </a:solidFill>
              </a:rPr>
              <a:t>Terminate Agents 13 &amp; 49; implement improvement plan for Agent 19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MEDIUM-TERM: </a:t>
            </a:r>
            <a:r>
              <a:rPr lang="en-US" sz="1100" dirty="0">
                <a:solidFill>
                  <a:srgbClr val="2D3748"/>
                </a:solidFill>
              </a:rPr>
              <a:t>Hire additional agents to balance workload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</a:rPr>
              <a:t>ONGOING: </a:t>
            </a:r>
            <a:r>
              <a:rPr lang="en-US" sz="1100" dirty="0">
                <a:solidFill>
                  <a:srgbClr val="2D3748"/>
                </a:solidFill>
              </a:rPr>
              <a:t>Invest in technology infrastructure to reduce Hardware/System tickets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26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Impact: Enhanced service quality, improved efficiency, reduced resolution times, and readiness for continued growth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ECE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9ECEF"/>
                </a:solidFill>
              </a:rPr>
              <a:t>Data-Driven Decisions for IT Excellence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3033</TotalTime>
  <Words>1426</Words>
  <Application>Microsoft Office PowerPoint</Application>
  <PresentationFormat>On-screen Show (16:9)</PresentationFormat>
  <Paragraphs>194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Gill Sans MT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Support Ticket Management System Analysis</dc:title>
  <dc:subject>PptxGenJS Presentation</dc:subject>
  <dc:creator>IT Support Analysis Team</dc:creator>
  <cp:lastModifiedBy>Vamshi Bakkashetti</cp:lastModifiedBy>
  <cp:revision>8</cp:revision>
  <dcterms:created xsi:type="dcterms:W3CDTF">2026-02-04T15:06:03Z</dcterms:created>
  <dcterms:modified xsi:type="dcterms:W3CDTF">2026-03-02T18:10:26Z</dcterms:modified>
</cp:coreProperties>
</file>